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1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14.png"/><Relationship Id="rId9" Type="http://schemas.openxmlformats.org/officeDocument/2006/relationships/image" Target="../media/image45.png"/><Relationship Id="rId10" Type="http://schemas.openxmlformats.org/officeDocument/2006/relationships/image" Target="../media/image46.png"/><Relationship Id="rId11" Type="http://schemas.openxmlformats.org/officeDocument/2006/relationships/image" Target="../media/image47.png"/><Relationship Id="rId12" Type="http://schemas.openxmlformats.org/officeDocument/2006/relationships/image" Target="../media/image48.png"/><Relationship Id="rId13" Type="http://schemas.openxmlformats.org/officeDocument/2006/relationships/image" Target="../media/image4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2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Relationship Id="rId10" Type="http://schemas.openxmlformats.org/officeDocument/2006/relationships/image" Target="../media/image6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Relationship Id="rId9" Type="http://schemas.openxmlformats.org/officeDocument/2006/relationships/image" Target="../media/image15.png"/><Relationship Id="rId10" Type="http://schemas.openxmlformats.org/officeDocument/2006/relationships/image" Target="../media/image64.png"/><Relationship Id="rId11" Type="http://schemas.openxmlformats.org/officeDocument/2006/relationships/image" Target="../media/image65.png"/><Relationship Id="rId12" Type="http://schemas.openxmlformats.org/officeDocument/2006/relationships/image" Target="../media/image66.png"/><Relationship Id="rId13" Type="http://schemas.openxmlformats.org/officeDocument/2006/relationships/image" Target="../media/image6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46089"/>
            <a:ext cx="263842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383285"/>
            <a:ext cx="8096250" cy="4286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2522339"/>
            <a:ext cx="5120640" cy="649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115"/>
              </a:lnSpc>
            </a:pPr>
            <a:r>
              <a:rPr b="0" sz="4650" i="0" u="none">
                <a:solidFill>
                  <a:srgbClr val="FFFFFF"/>
                </a:solidFill>
                <a:latin typeface="Plus Jakarta Sans ExtraBold"/>
              </a:rPr>
              <a:t>Liderazgo </a:t>
            </a:r>
            <a:r>
              <a:rPr b="0" sz="4650" i="0" u="none">
                <a:solidFill>
                  <a:srgbClr val="38BDF8"/>
                </a:solidFill>
                <a:latin typeface="Plus Jakarta Sans ExtraBold"/>
              </a:rPr>
              <a:t>Global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362325"/>
            <a:ext cx="80962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CBD5E1"/>
                </a:solidFill>
                <a:latin typeface="Inter"/>
              </a:rPr>
              <a:t>Diplomacia multilateral y visión tecnológica: Un análisis comparativo de Kofi A. Annan y Jensen Huang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75" y="2127051"/>
            <a:ext cx="128587" cy="1238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28700" y="4630935"/>
            <a:ext cx="260032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Inter"/>
              </a:rPr>
              <a:t>Actividad de Clase · 5 de Agosto,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48150" y="4630935"/>
            <a:ext cx="175260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Inter"/>
              </a:rPr>
              <a:t>Estudio de Casos de Éxito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9875" y="4630935"/>
            <a:ext cx="117157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Inter"/>
              </a:rPr>
              <a:t>Paz &amp; Tecnología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635698"/>
            <a:ext cx="15240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14775" y="4635698"/>
            <a:ext cx="219075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0" y="4635698"/>
            <a:ext cx="219075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60761"/>
            <a:ext cx="3530649" cy="21955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760761"/>
            <a:ext cx="3530649" cy="21955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760761"/>
            <a:ext cx="3530649" cy="21955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76250"/>
            <a:ext cx="2076450" cy="285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929580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3036986"/>
            <a:ext cx="495300" cy="495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625" y="3703736"/>
            <a:ext cx="3207119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01–03. Kofi Annan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4037111"/>
            <a:ext cx="305439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Trayectoria diplomática, hitos trascendentales como 7.º Secretario General de la ONU y su estilo de liderazgo moral.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8874" y="3036986"/>
            <a:ext cx="495300" cy="495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68874" y="3703736"/>
            <a:ext cx="3207119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04–06. Jensen Huang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8874" y="4037111"/>
            <a:ext cx="305439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Visión emprendedora, transformación de NVIDIA en gigante de IA y modelo de gestión pragmático e innovador.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8124" y="3036986"/>
            <a:ext cx="495300" cy="495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28124" y="3703736"/>
            <a:ext cx="3207119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07–08. Síntesis y Fuentes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8124" y="4037111"/>
            <a:ext cx="305439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Comparativa integral entre diplomacia e innovación tecnológica, lecciones transversales y metodología.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2975" y="3170336"/>
            <a:ext cx="228600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02224" y="3170336"/>
            <a:ext cx="228600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32899" y="3170336"/>
            <a:ext cx="285750" cy="228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90600" y="876300"/>
            <a:ext cx="11161395" cy="411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Contenido de la Presentación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89905"/>
            <a:ext cx="50482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62548"/>
            <a:ext cx="5048250" cy="15055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789955"/>
            <a:ext cx="5300662" cy="411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Kofi A. Annan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344191"/>
            <a:ext cx="5048250" cy="560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b="0" sz="1425" i="0" u="none">
                <a:solidFill>
                  <a:srgbClr val="1E293B"/>
                </a:solidFill>
                <a:latin typeface="Inter SemiBold"/>
              </a:rPr>
              <a:t>7.º Secretario General de las Naciones Unidas (1997–2006)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019276"/>
            <a:ext cx="5048250" cy="752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Nacido en Ghana (1938–2018), Annan marcó un hito histórico al convertirse en el primer africano negro en dirigir la ONU y el único en ascender desde las propias filas de la organización.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0"/>
            <a:ext cx="1504950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6325" y="4238773"/>
            <a:ext cx="4480560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1D4ED8"/>
                </a:solidFill>
                <a:latin typeface="Plus Jakarta Sans"/>
              </a:rPr>
              <a:t>Hito de Designación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4572148"/>
            <a:ext cx="4495800" cy="61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1E3A8A"/>
                </a:solidFill>
                <a:latin typeface="Inter"/>
              </a:rPr>
              <a:t>Nombrado mediante la Resolución A/RES/51/200 en dic. 1996. Asumió el 1 de enero de 1997 y fue reelecto por unanimidad para un segundo mandato en 2001.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4262586"/>
            <a:ext cx="13335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94049"/>
            <a:ext cx="5334000" cy="31194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591692"/>
            <a:ext cx="5334000" cy="27241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76250"/>
            <a:ext cx="2176462" cy="285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929580"/>
            <a:ext cx="266700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3950" y="2670274"/>
            <a:ext cx="4730591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Plus Jakarta Sans"/>
              </a:rPr>
              <a:t>Formación Académica Elite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96100" y="2867917"/>
            <a:ext cx="4670583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Plus Jakarta Sans"/>
              </a:rPr>
              <a:t>Carrera Impecable en la ONU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" y="2698849"/>
            <a:ext cx="180975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90625" y="3079849"/>
            <a:ext cx="4438650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0F172A"/>
                </a:solidFill>
                <a:latin typeface="Inter SemiBold"/>
              </a:rPr>
              <a:t>Kumasi Tech (Ghana):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Estudios iniciales en su tierra natal.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0625" y="3475136"/>
            <a:ext cx="44386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0F172A"/>
                </a:solidFill>
                <a:latin typeface="Inter SemiBold"/>
              </a:rPr>
              <a:t>Macalester College (EE.UU.):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Licenciado en Economía (1961) con beca Ford.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0625" y="4113311"/>
            <a:ext cx="44386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0F172A"/>
                </a:solidFill>
                <a:latin typeface="Inter SemiBold"/>
              </a:rPr>
              <a:t>IHEID (Ginebra):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Posgrado de alto nivel en Relaciones Internacionales.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0625" y="4751486"/>
            <a:ext cx="44386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0F172A"/>
                </a:solidFill>
                <a:latin typeface="Inter SemiBold"/>
              </a:rPr>
              <a:t>MIT Sloan (EE.UU.):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Maestría en Administración como becario Sloan (1972).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2725" y="2896492"/>
            <a:ext cx="238125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05625" y="3277492"/>
            <a:ext cx="44386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0F172A"/>
                </a:solidFill>
                <a:latin typeface="Inter SemiBold"/>
              </a:rPr>
              <a:t>1962: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Ingresa como oficial de presupuesto en la OMS (Ginebra).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5625" y="3915667"/>
            <a:ext cx="44386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0F172A"/>
                </a:solidFill>
                <a:latin typeface="Inter SemiBold"/>
              </a:rPr>
              <a:t>1965–1992: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Comisión Económica para África, ACNUR y Logística.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5625" y="4553842"/>
            <a:ext cx="44386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0F172A"/>
                </a:solidFill>
                <a:latin typeface="Inter SemiBold"/>
              </a:rPr>
              <a:t>1993–1996: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Subsecretario General para Mantenimiento de la Paz (Bosnia, Somalia).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725" y="3103661"/>
            <a:ext cx="190500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725" y="3498949"/>
            <a:ext cx="190500" cy="200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725" y="4137124"/>
            <a:ext cx="190500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725" y="4775299"/>
            <a:ext cx="190500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2725" y="3301305"/>
            <a:ext cx="171450" cy="2000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2725" y="3939480"/>
            <a:ext cx="171450" cy="2000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2725" y="4577655"/>
            <a:ext cx="171450" cy="20002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52500" y="876300"/>
            <a:ext cx="11201400" cy="411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Preparación Universitaria y Ascenso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525785"/>
            <a:ext cx="5334000" cy="3429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76250"/>
            <a:ext cx="1833562" cy="285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929580"/>
            <a:ext cx="3429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6025" y="1535310"/>
            <a:ext cx="5314950" cy="3409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1525785"/>
            <a:ext cx="49911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0F172A"/>
                </a:solidFill>
                <a:latin typeface="Inter SemiBold"/>
              </a:rPr>
              <a:t>Premio Nobel de la Paz 2001: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Galardonado junto a la ONU por revitalizar el organismo y priorizar los derechos humanos.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63960"/>
            <a:ext cx="49911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0F172A"/>
                </a:solidFill>
                <a:latin typeface="Inter SemiBold"/>
              </a:rPr>
              <a:t>Pacto Mundial (1999):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Involucró por primera vez al sector privado en la ética ambiental y laboral de la ONU.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02135"/>
            <a:ext cx="49911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0F172A"/>
                </a:solidFill>
                <a:latin typeface="Inter SemiBold"/>
              </a:rPr>
              <a:t>Objetivos del Milenio (2000):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Hoja de ruta pionera que redujo drásticamente la pobreza extrema a nivel global.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40310"/>
            <a:ext cx="49911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0F172A"/>
                </a:solidFill>
                <a:latin typeface="Inter SemiBold"/>
              </a:rPr>
              <a:t>Lucha Global Contra el VIH/SIDA: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Creó el Fondo Mundial impulsando tratamiento masivo en África.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549598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187773"/>
            <a:ext cx="238125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825948"/>
            <a:ext cx="19050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3464123"/>
            <a:ext cx="190500" cy="200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8700" y="876300"/>
            <a:ext cx="11121390" cy="411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Principales Hitos y Transformaciones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6011"/>
            <a:ext cx="3530649" cy="21955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856011"/>
            <a:ext cx="3530649" cy="21955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856011"/>
            <a:ext cx="3530649" cy="21955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76250"/>
            <a:ext cx="1809750" cy="285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929580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3132236"/>
            <a:ext cx="495300" cy="495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625" y="3798986"/>
            <a:ext cx="3207119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1. Diplomacia Silenciosa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4132361"/>
            <a:ext cx="305439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Negociación paciente y discreta capaz de tender puentes entre facciones fuertemente enfrentadas.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8874" y="3132236"/>
            <a:ext cx="495300" cy="495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68874" y="3798986"/>
            <a:ext cx="3207119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2. Visión Reformista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8874" y="4132361"/>
            <a:ext cx="305439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Modernización interna de una maquinaria burocrática compleja para adaptarla al siglo XXI.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8124" y="3132236"/>
            <a:ext cx="495300" cy="495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28124" y="3798986"/>
            <a:ext cx="3207119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3. Autoridad Moral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8124" y="4132361"/>
            <a:ext cx="305439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Firme voz ética que defendió los principios de la Carta de la ONU por encima de presiones políticas.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" y="3265586"/>
            <a:ext cx="285750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02224" y="3265586"/>
            <a:ext cx="228600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47186" y="3265586"/>
            <a:ext cx="257175" cy="228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90600" y="876300"/>
            <a:ext cx="11161395" cy="411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Pilares de Liderazgo de Kofi Annan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89905"/>
            <a:ext cx="50482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62548"/>
            <a:ext cx="5048250" cy="15055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789955"/>
            <a:ext cx="5300662" cy="411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Jensen Huang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344191"/>
            <a:ext cx="5048250" cy="560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b="0" sz="1425" i="0" u="none">
                <a:solidFill>
                  <a:srgbClr val="1E293B"/>
                </a:solidFill>
                <a:latin typeface="Inter SemiBold"/>
              </a:rPr>
              <a:t>Cofundador, CEO y Presidente de NVIDIA (1993–Presente)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019276"/>
            <a:ext cx="5048250" cy="752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Nacido en Taiwán (1963) y emigrado a EE.UU. en su infancia. Visionario de la computación acelerada que ha transformado la industria global del hardware y la inteligencia artificial.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4425" y="4238773"/>
            <a:ext cx="4440555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15803D"/>
                </a:solidFill>
                <a:latin typeface="Plus Jakarta Sans"/>
              </a:rPr>
              <a:t>Formación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4572148"/>
            <a:ext cx="4495800" cy="61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14532D"/>
                </a:solidFill>
                <a:latin typeface="Inter"/>
              </a:rPr>
              <a:t>Grado en Ingeniería Eléctrica por Oregon State y Maestría en Stanford (1992). Pasó por AMD y LSI Logic antes de fundar NVIDIA a los 30 años.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4262586"/>
            <a:ext cx="17145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525785"/>
            <a:ext cx="5334000" cy="3429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76250"/>
            <a:ext cx="2162175" cy="285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929580"/>
            <a:ext cx="2667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6025" y="1535310"/>
            <a:ext cx="5314950" cy="3409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1525785"/>
            <a:ext cx="49911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0F172A"/>
                </a:solidFill>
                <a:latin typeface="Inter SemiBold"/>
              </a:rPr>
              <a:t>Invención de la GPU (1999):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Redefinió los gráficos por computadora con el lanzamiento de GeForce 256.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63960"/>
            <a:ext cx="49911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0F172A"/>
                </a:solidFill>
                <a:latin typeface="Inter SemiBold"/>
              </a:rPr>
              <a:t>Apuesta por CUDA (2006):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Plataforma de supercómputo que sentó las bases para el procesamiento paralelo masivo.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02135"/>
            <a:ext cx="49911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0F172A"/>
                </a:solidFill>
                <a:latin typeface="Inter SemiBold"/>
              </a:rPr>
              <a:t>Motor de la Revolución de IA: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Transformó NVIDIA de una empresa de videojuegos al proveedor clave del boom de 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40310"/>
            <a:ext cx="49911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0F172A"/>
                </a:solidFill>
                <a:latin typeface="Inter SemiBold"/>
              </a:rPr>
              <a:t>Hito Bursátil ($3 billones):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Llevó a NVIDIA a superar los $3.000.000M en valoración bursátil en 2024.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549598"/>
            <a:ext cx="238125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187773"/>
            <a:ext cx="238125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825948"/>
            <a:ext cx="238125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3464123"/>
            <a:ext cx="190500" cy="200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52500" y="876300"/>
            <a:ext cx="11201400" cy="411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Hitos y Transformación con NVIDIA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6011"/>
            <a:ext cx="3530649" cy="21955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856011"/>
            <a:ext cx="3530649" cy="21955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856011"/>
            <a:ext cx="3530649" cy="21955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76250"/>
            <a:ext cx="1809750" cy="285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929580"/>
            <a:ext cx="2286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3132236"/>
            <a:ext cx="495300" cy="495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625" y="3798986"/>
            <a:ext cx="3207119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1. Extrema Transparencia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4132361"/>
            <a:ext cx="305439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Abolición de jerarquías tradicionales; promueve la discusión abierta de problemas con equipos directos e indirectos.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8874" y="3132236"/>
            <a:ext cx="495300" cy="495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68874" y="3798986"/>
            <a:ext cx="3207119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2. Visión a Largo Plazo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8874" y="4132361"/>
            <a:ext cx="305439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Capacidad de invertir durante décadas en tecnologías emergentes (como CUDA) antes de que exista el mercado.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8124" y="3132236"/>
            <a:ext cx="495300" cy="495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28124" y="3798986"/>
            <a:ext cx="3207119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3. Resiliencia Brutal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8124" y="4132361"/>
            <a:ext cx="305439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Lideró a la empresa atravesando múltiples crisis de bancarrota hasta dominar el mercado global.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8687" y="3265586"/>
            <a:ext cx="257175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02224" y="3265586"/>
            <a:ext cx="228600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61474" y="3265586"/>
            <a:ext cx="228600" cy="228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14400" y="876300"/>
            <a:ext cx="11241405" cy="411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Habilidades de Liderazgo de Huang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01230"/>
            <a:ext cx="11049000" cy="2505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76250"/>
            <a:ext cx="1885950" cy="285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929580"/>
            <a:ext cx="304800" cy="3048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1025" y="2710755"/>
          <a:ext cx="11029949" cy="2486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129879"/>
                <a:gridCol w="4259907"/>
                <a:gridCol w="4640163"/>
              </a:tblGrid>
              <a:tr h="497205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Eje de Análisis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Kofi Annan (Liderazgo Político / Moral)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Jensen Huang (Liderazgo Tecnológico)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Inter"/>
                        </a:rPr>
                        <a:t>Ámbito de Impacto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Gobernanza global, paz y derechos humanos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Innovación tecnológica, cómputo e Inteligencia Artificial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Inter"/>
                        </a:rPr>
                        <a:t>Estilo de Negociación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Diplomático, basado en consensos y diálogo discreto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Directo, transparente, orientado a ejecución rápida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Inter"/>
                        </a:rPr>
                        <a:t>Cultura Organizacional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Gestión de organismos multilaterales complejos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Estructura plana, ágil y centrada en resolver retos técnicos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Inter"/>
                        </a:rPr>
                        <a:t>Legado Principal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Objetivos del Milenio y diplomacia preventiva mundial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Infraestructura informática acelerada del siglo XXI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81025" y="3706117"/>
            <a:ext cx="212987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10904" y="3706117"/>
            <a:ext cx="42599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70811" y="3706117"/>
            <a:ext cx="464016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1025" y="4201417"/>
            <a:ext cx="212987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10904" y="4201417"/>
            <a:ext cx="42599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70811" y="4201417"/>
            <a:ext cx="464016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1025" y="4696717"/>
            <a:ext cx="212987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10904" y="4696717"/>
            <a:ext cx="42599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70811" y="4696717"/>
            <a:ext cx="464016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0600" y="876300"/>
            <a:ext cx="11161395" cy="411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Dos Estilos, Una Misma Excelencia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04244"/>
            <a:ext cx="5381625" cy="189904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591692"/>
            <a:ext cx="5381625" cy="27241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76250"/>
            <a:ext cx="1666875" cy="285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929580"/>
            <a:ext cx="228600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299519"/>
            <a:ext cx="4791075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b="0" sz="4200" i="0" u="none">
                <a:solidFill>
                  <a:srgbClr val="1D4ED8"/>
                </a:solidFill>
                <a:latin typeface="Plus Jakarta Sans ExtraBol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909119"/>
            <a:ext cx="47910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1E3A8A"/>
                </a:solidFill>
                <a:latin typeface="Inter SemiBold"/>
              </a:rPr>
              <a:t>Modelos Complementarios de Impacto Mundial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4194869"/>
            <a:ext cx="4791075" cy="413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7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Tanto la diplomacia humanista como la innovación tecnológica son imprescindibles para el progreso global.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1325" y="2867917"/>
            <a:ext cx="4780597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Plus Jakarta Sans"/>
              </a:rPr>
              <a:t>Conclusiones Clave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2896492"/>
            <a:ext cx="180975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0" y="3277492"/>
            <a:ext cx="44862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0F172A"/>
                </a:solidFill>
                <a:latin typeface="Inter SemiBold"/>
              </a:rPr>
              <a:t>Adaptabilidad Orgánica: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Saber reformar estructuras gigantescas o reinventar modelos de negocio.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915667"/>
            <a:ext cx="44862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0F172A"/>
                </a:solidFill>
                <a:latin typeface="Inter SemiBold"/>
              </a:rPr>
              <a:t>Empatía y Transparencia: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Generar confianza recíproca en diplomacia y en equipos de alta tecnología.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553842"/>
            <a:ext cx="44862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0F172A"/>
                </a:solidFill>
                <a:latin typeface="Inter SemiBold"/>
              </a:rPr>
              <a:t>Convicción a Largo Plazo: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Apostar por propósitos trascendentes superando las crisis del camino.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876300"/>
            <a:ext cx="11241405" cy="411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Lecciones de Liderazgo para el Futuro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443" y="1949350"/>
            <a:ext cx="2043112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65596" y="2425600"/>
            <a:ext cx="6460807" cy="581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Plus Jakarta Sans"/>
              </a:rPr>
              <a:t>¿Preguntas o Comentarios?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149500"/>
            <a:ext cx="7143750" cy="7969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92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Presentación elaborada para la actividad académica del 5 de agosto de 2026. Fuentes consultadas: UN Dag Hammarskjöld Library, Archivos Oficiales de la ONU y Publicaciones de la Industria Tecnológica.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4650" y="4479875"/>
            <a:ext cx="28575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43275" y="4513212"/>
            <a:ext cx="59340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Inter"/>
              </a:rPr>
              <a:t>Sintetizado y maquetado con apoyo de IA para curaduría de contenidos y diseño instruccional.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119758"/>
            <a:ext cx="11049000" cy="9627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082528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854053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07300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307300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384452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84452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461605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461605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58181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66875" y="2262633"/>
            <a:ext cx="9953625" cy="383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https://upload.wikimedia.org/wikipedia/commons/7/72/Kofi_Annan_2012_%28cropped%29.jpg?utm_source=en.wikipedia.org&amp;utm_campaign=index&amp;utm_content=original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2693937"/>
            <a:ext cx="9953625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en.wikipedia.org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25403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75" y="3225700"/>
            <a:ext cx="9953625" cy="191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https://www.nobelprize.org/uploads/2018/06/annan-diploma.jpg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3465165"/>
            <a:ext cx="9953625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www.nobelprize.org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96928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6875" y="3997225"/>
            <a:ext cx="9953625" cy="191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https://cdn.britannica.com/60/257460-050-62FF74CB/NVIDIA-Jensen-Huang.jpg?w=385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4236690"/>
            <a:ext cx="9953625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www.britannica.com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768453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6875" y="4768750"/>
            <a:ext cx="9953625" cy="191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https://cdn1.vogel.de/SAluLK-Jt8dfmiMGJksP0uP5B34=/fit-in/800x0/p7i.vogel.de/wcms/53/db/53db402aa8ba495a9d398fae7531b4b6/0132214563v1.jpeg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5008215"/>
            <a:ext cx="9953625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www.all-about-industries.com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